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T Ramillas Heavy" charset="1" panose="020E0000080000020004"/>
      <p:regular r:id="rId14"/>
    </p:embeddedFont>
    <p:embeddedFont>
      <p:font typeface="TT Ramillas Bold" charset="1" panose="020E0000080000020004"/>
      <p:regular r:id="rId15"/>
    </p:embeddedFont>
    <p:embeddedFont>
      <p:font typeface="TT Ramillas Heavy Italics" charset="1" panose="020E0000080000090004"/>
      <p:regular r:id="rId16"/>
    </p:embeddedFont>
    <p:embeddedFont>
      <p:font typeface="TT Ramillas" charset="1" panose="020E0000080000020004"/>
      <p:regular r:id="rId17"/>
    </p:embeddedFont>
    <p:embeddedFont>
      <p:font typeface="TT Ramillas Bold Italics" charset="1" panose="020E000008000009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08564" y="3500286"/>
            <a:ext cx="3086100" cy="1553073"/>
            <a:chOff x="0" y="0"/>
            <a:chExt cx="812800" cy="409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4181"/>
              <a:ext cx="812800" cy="400678"/>
            </a:xfrm>
            <a:custGeom>
              <a:avLst/>
              <a:gdLst/>
              <a:ahLst/>
              <a:cxnLst/>
              <a:rect r="r" b="b" t="t" l="l"/>
              <a:pathLst>
                <a:path h="400678" w="812800">
                  <a:moveTo>
                    <a:pt x="99571" y="34173"/>
                  </a:moveTo>
                  <a:lnTo>
                    <a:pt x="306829" y="8265"/>
                  </a:lnTo>
                  <a:cubicBezTo>
                    <a:pt x="372952" y="0"/>
                    <a:pt x="439848" y="0"/>
                    <a:pt x="505971" y="8265"/>
                  </a:cubicBezTo>
                  <a:lnTo>
                    <a:pt x="713229" y="34173"/>
                  </a:lnTo>
                  <a:cubicBezTo>
                    <a:pt x="770113" y="41283"/>
                    <a:pt x="812800" y="89638"/>
                    <a:pt x="812800" y="146965"/>
                  </a:cubicBezTo>
                  <a:lnTo>
                    <a:pt x="812800" y="253713"/>
                  </a:lnTo>
                  <a:cubicBezTo>
                    <a:pt x="812800" y="311040"/>
                    <a:pt x="770113" y="359395"/>
                    <a:pt x="713229" y="366505"/>
                  </a:cubicBezTo>
                  <a:lnTo>
                    <a:pt x="505971" y="392413"/>
                  </a:lnTo>
                  <a:cubicBezTo>
                    <a:pt x="439848" y="400678"/>
                    <a:pt x="372952" y="400678"/>
                    <a:pt x="306829" y="392413"/>
                  </a:cubicBezTo>
                  <a:lnTo>
                    <a:pt x="99571" y="366505"/>
                  </a:lnTo>
                  <a:cubicBezTo>
                    <a:pt x="42687" y="359395"/>
                    <a:pt x="0" y="311040"/>
                    <a:pt x="0" y="253713"/>
                  </a:cubicBezTo>
                  <a:lnTo>
                    <a:pt x="0" y="146965"/>
                  </a:lnTo>
                  <a:cubicBezTo>
                    <a:pt x="0" y="89638"/>
                    <a:pt x="42687" y="41283"/>
                    <a:pt x="99571" y="341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700"/>
              <a:ext cx="812800" cy="396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258233"/>
            <a:ext cx="18288000" cy="3447057"/>
            <a:chOff x="0" y="0"/>
            <a:chExt cx="4816593" cy="9078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907867"/>
            </a:xfrm>
            <a:custGeom>
              <a:avLst/>
              <a:gdLst/>
              <a:ahLst/>
              <a:cxnLst/>
              <a:rect r="r" b="b" t="t" l="l"/>
              <a:pathLst>
                <a:path h="9078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07867"/>
                  </a:lnTo>
                  <a:lnTo>
                    <a:pt x="0" y="9078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945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496239" y="5499021"/>
            <a:ext cx="169638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3804706" y="1366425"/>
            <a:ext cx="1543050" cy="46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b="true" sz="3799" spc="-189">
                <a:solidFill>
                  <a:srgbClr val="FFDE59"/>
                </a:solidFill>
                <a:latin typeface="TT Ramillas Heavy"/>
                <a:ea typeface="TT Ramillas Heavy"/>
                <a:cs typeface="TT Ramillas Heavy"/>
                <a:sym typeface="TT Ramillas Heavy"/>
              </a:rPr>
              <a:t>GUÍA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76767" y="8189027"/>
            <a:ext cx="2941980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0"/>
              </a:lnSpc>
            </a:pPr>
            <a:r>
              <a:rPr lang="en-US" b="true" sz="1900" spc="-95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@sitioincreible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76767" y="8569261"/>
            <a:ext cx="2941980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0"/>
              </a:lnSpc>
            </a:pPr>
            <a:r>
              <a:rPr lang="en-US" b="true" sz="1900" spc="-95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www.sitioincreible.com.ar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0" y="1327380"/>
            <a:ext cx="18288000" cy="4807029"/>
            <a:chOff x="0" y="0"/>
            <a:chExt cx="4816593" cy="12660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16592" cy="1266049"/>
            </a:xfrm>
            <a:custGeom>
              <a:avLst/>
              <a:gdLst/>
              <a:ahLst/>
              <a:cxnLst/>
              <a:rect r="r" b="b" t="t" l="l"/>
              <a:pathLst>
                <a:path h="12660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66049"/>
                  </a:lnTo>
                  <a:lnTo>
                    <a:pt x="0" y="1266049"/>
                  </a:lnTo>
                  <a:close/>
                </a:path>
              </a:pathLst>
            </a:custGeom>
            <a:solidFill>
              <a:srgbClr val="1C2E3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16593" cy="1304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00150" y="2519211"/>
            <a:ext cx="7646635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 i="true" spc="-349">
                <a:solidFill>
                  <a:srgbClr val="FFFFFF"/>
                </a:solidFill>
                <a:latin typeface="TT Ramillas Heavy Italics"/>
                <a:ea typeface="TT Ramillas Heavy Italics"/>
                <a:cs typeface="TT Ramillas Heavy Italics"/>
                <a:sym typeface="TT Ramillas Heavy Italics"/>
              </a:rPr>
              <a:t>aPSIstance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0150" y="3688198"/>
            <a:ext cx="11783099" cy="40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3299" spc="-164">
                <a:solidFill>
                  <a:srgbClr val="FFDE59"/>
                </a:solidFill>
                <a:latin typeface="TT Ramillas"/>
                <a:ea typeface="TT Ramillas"/>
                <a:cs typeface="TT Ramillas"/>
                <a:sym typeface="TT Ramillas"/>
              </a:rPr>
              <a:t>App para Psicólogos con Registro Inteligente de Sesiones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7051027"/>
            <a:ext cx="6014620" cy="44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9"/>
              </a:lnSpc>
            </a:pPr>
            <a:r>
              <a:rPr lang="en-US" b="true" sz="3599" spc="-179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Alumno: Pablo Capo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6673500"/>
            <a:ext cx="4713454" cy="1308262"/>
            <a:chOff x="0" y="0"/>
            <a:chExt cx="1138368" cy="3159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8368" cy="315964"/>
            </a:xfrm>
            <a:custGeom>
              <a:avLst/>
              <a:gdLst/>
              <a:ahLst/>
              <a:cxnLst/>
              <a:rect r="r" b="b" t="t" l="l"/>
              <a:pathLst>
                <a:path h="315964" w="1138368">
                  <a:moveTo>
                    <a:pt x="935168" y="0"/>
                  </a:moveTo>
                  <a:cubicBezTo>
                    <a:pt x="1047393" y="0"/>
                    <a:pt x="1138368" y="70731"/>
                    <a:pt x="1138368" y="157982"/>
                  </a:cubicBezTo>
                  <a:cubicBezTo>
                    <a:pt x="1138368" y="245233"/>
                    <a:pt x="1047393" y="315964"/>
                    <a:pt x="935168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38368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10895" y="6990458"/>
            <a:ext cx="3749065" cy="77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Proyecto</a:t>
            </a:r>
          </a:p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integrador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0" y="8086537"/>
            <a:ext cx="6014620" cy="44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9"/>
              </a:lnSpc>
            </a:pPr>
            <a:r>
              <a:rPr lang="en-US" b="true" sz="3599" spc="-179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Profesor: Erick Ravelo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0" y="9089708"/>
            <a:ext cx="6014620" cy="44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9"/>
              </a:lnSpc>
            </a:pPr>
            <a:r>
              <a:rPr lang="en-US" b="true" sz="3599" spc="-179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IFTS N° 24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28700" y="8524687"/>
            <a:ext cx="4713454" cy="1308262"/>
            <a:chOff x="0" y="0"/>
            <a:chExt cx="1138368" cy="3159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8368" cy="315964"/>
            </a:xfrm>
            <a:custGeom>
              <a:avLst/>
              <a:gdLst/>
              <a:ahLst/>
              <a:cxnLst/>
              <a:rect r="r" b="b" t="t" l="l"/>
              <a:pathLst>
                <a:path h="315964" w="1138368">
                  <a:moveTo>
                    <a:pt x="935168" y="0"/>
                  </a:moveTo>
                  <a:cubicBezTo>
                    <a:pt x="1047393" y="0"/>
                    <a:pt x="1138368" y="70731"/>
                    <a:pt x="1138368" y="157982"/>
                  </a:cubicBezTo>
                  <a:cubicBezTo>
                    <a:pt x="1138368" y="245233"/>
                    <a:pt x="1047393" y="315964"/>
                    <a:pt x="935168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138368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510895" y="8839728"/>
            <a:ext cx="3749065" cy="77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1° cuatrimestre</a:t>
            </a:r>
          </a:p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79593" cy="10287000"/>
            <a:chOff x="0" y="0"/>
            <a:chExt cx="133783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783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37835">
                  <a:moveTo>
                    <a:pt x="0" y="0"/>
                  </a:moveTo>
                  <a:lnTo>
                    <a:pt x="1337835" y="0"/>
                  </a:lnTo>
                  <a:lnTo>
                    <a:pt x="13378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2E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783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2539796" y="-524789"/>
            <a:ext cx="0" cy="1475683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2539796" y="2625926"/>
            <a:ext cx="0" cy="790184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874979" y="2245105"/>
            <a:ext cx="10112648" cy="1199677"/>
            <a:chOff x="0" y="0"/>
            <a:chExt cx="2663413" cy="3159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63413" cy="315964"/>
            </a:xfrm>
            <a:custGeom>
              <a:avLst/>
              <a:gdLst/>
              <a:ahLst/>
              <a:cxnLst/>
              <a:rect r="r" b="b" t="t" l="l"/>
              <a:pathLst>
                <a:path h="315964" w="2663413">
                  <a:moveTo>
                    <a:pt x="2460213" y="0"/>
                  </a:moveTo>
                  <a:cubicBezTo>
                    <a:pt x="2572438" y="0"/>
                    <a:pt x="2663413" y="70731"/>
                    <a:pt x="2663413" y="157982"/>
                  </a:cubicBezTo>
                  <a:cubicBezTo>
                    <a:pt x="2663413" y="245233"/>
                    <a:pt x="2572438" y="315964"/>
                    <a:pt x="2460213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63413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82879" y="3943823"/>
            <a:ext cx="10004748" cy="1199677"/>
            <a:chOff x="0" y="0"/>
            <a:chExt cx="2634995" cy="3159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34995" cy="315964"/>
            </a:xfrm>
            <a:custGeom>
              <a:avLst/>
              <a:gdLst/>
              <a:ahLst/>
              <a:cxnLst/>
              <a:rect r="r" b="b" t="t" l="l"/>
              <a:pathLst>
                <a:path h="315964" w="2634995">
                  <a:moveTo>
                    <a:pt x="2431795" y="0"/>
                  </a:moveTo>
                  <a:cubicBezTo>
                    <a:pt x="2544020" y="0"/>
                    <a:pt x="2634995" y="70731"/>
                    <a:pt x="2634995" y="157982"/>
                  </a:cubicBezTo>
                  <a:cubicBezTo>
                    <a:pt x="2634995" y="245233"/>
                    <a:pt x="2544020" y="315964"/>
                    <a:pt x="2431795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634995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35177" y="5752621"/>
            <a:ext cx="10004748" cy="1199677"/>
            <a:chOff x="0" y="0"/>
            <a:chExt cx="2634995" cy="3159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34995" cy="315964"/>
            </a:xfrm>
            <a:custGeom>
              <a:avLst/>
              <a:gdLst/>
              <a:ahLst/>
              <a:cxnLst/>
              <a:rect r="r" b="b" t="t" l="l"/>
              <a:pathLst>
                <a:path h="315964" w="2634995">
                  <a:moveTo>
                    <a:pt x="2431795" y="0"/>
                  </a:moveTo>
                  <a:cubicBezTo>
                    <a:pt x="2544020" y="0"/>
                    <a:pt x="2634995" y="70731"/>
                    <a:pt x="2634995" y="157982"/>
                  </a:cubicBezTo>
                  <a:cubicBezTo>
                    <a:pt x="2634995" y="245233"/>
                    <a:pt x="2544020" y="315964"/>
                    <a:pt x="2431795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634995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72654" y="4295059"/>
            <a:ext cx="4222276" cy="4114800"/>
          </a:xfrm>
          <a:custGeom>
            <a:avLst/>
            <a:gdLst/>
            <a:ahLst/>
            <a:cxnLst/>
            <a:rect r="r" b="b" t="t" l="l"/>
            <a:pathLst>
              <a:path h="4114800" w="4222276">
                <a:moveTo>
                  <a:pt x="0" y="0"/>
                </a:moveTo>
                <a:lnTo>
                  <a:pt x="4222276" y="0"/>
                </a:lnTo>
                <a:lnTo>
                  <a:pt x="42222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72654" y="1515489"/>
            <a:ext cx="3734285" cy="72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10"/>
              </a:lnSpc>
              <a:spcBef>
                <a:spcPct val="0"/>
              </a:spcBef>
            </a:pPr>
            <a:r>
              <a:rPr lang="en-US" b="true" sz="5900" i="true" spc="-295">
                <a:solidFill>
                  <a:srgbClr val="FFFFFF"/>
                </a:solidFill>
                <a:latin typeface="TT Ramillas Heavy Italics"/>
                <a:ea typeface="TT Ramillas Heavy Italics"/>
                <a:cs typeface="TT Ramillas Heavy Italics"/>
                <a:sym typeface="TT Ramillas Heavy Italics"/>
              </a:rPr>
              <a:t>Problema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92518" y="2560794"/>
            <a:ext cx="9385470" cy="77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Gestión manual de un g</a:t>
            </a: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ran volumen de información sensible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92518" y="4204572"/>
            <a:ext cx="9385470" cy="77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Poco tiempo entre sesiones pa</a:t>
            </a: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ra un registro de calidad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44816" y="6199108"/>
            <a:ext cx="9385470" cy="40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Riesgo de pé</a:t>
            </a: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rdida de información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79593" cy="10287000"/>
            <a:chOff x="0" y="0"/>
            <a:chExt cx="133783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783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37835">
                  <a:moveTo>
                    <a:pt x="0" y="0"/>
                  </a:moveTo>
                  <a:lnTo>
                    <a:pt x="1337835" y="0"/>
                  </a:lnTo>
                  <a:lnTo>
                    <a:pt x="13378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2E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783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2539796" y="-524789"/>
            <a:ext cx="0" cy="1475683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2539796" y="2625926"/>
            <a:ext cx="0" cy="790184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873328" y="2791379"/>
            <a:ext cx="10112648" cy="1199677"/>
            <a:chOff x="0" y="0"/>
            <a:chExt cx="2663413" cy="3159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63413" cy="315964"/>
            </a:xfrm>
            <a:custGeom>
              <a:avLst/>
              <a:gdLst/>
              <a:ahLst/>
              <a:cxnLst/>
              <a:rect r="r" b="b" t="t" l="l"/>
              <a:pathLst>
                <a:path h="315964" w="2663413">
                  <a:moveTo>
                    <a:pt x="2460213" y="0"/>
                  </a:moveTo>
                  <a:cubicBezTo>
                    <a:pt x="2572438" y="0"/>
                    <a:pt x="2663413" y="70731"/>
                    <a:pt x="2663413" y="157982"/>
                  </a:cubicBezTo>
                  <a:cubicBezTo>
                    <a:pt x="2663413" y="245233"/>
                    <a:pt x="2572438" y="315964"/>
                    <a:pt x="2460213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63413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73328" y="4543661"/>
            <a:ext cx="10004748" cy="1199677"/>
            <a:chOff x="0" y="0"/>
            <a:chExt cx="2634995" cy="3159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34995" cy="315964"/>
            </a:xfrm>
            <a:custGeom>
              <a:avLst/>
              <a:gdLst/>
              <a:ahLst/>
              <a:cxnLst/>
              <a:rect r="r" b="b" t="t" l="l"/>
              <a:pathLst>
                <a:path h="315964" w="2634995">
                  <a:moveTo>
                    <a:pt x="2431795" y="0"/>
                  </a:moveTo>
                  <a:cubicBezTo>
                    <a:pt x="2544020" y="0"/>
                    <a:pt x="2634995" y="70731"/>
                    <a:pt x="2634995" y="157982"/>
                  </a:cubicBezTo>
                  <a:cubicBezTo>
                    <a:pt x="2634995" y="245233"/>
                    <a:pt x="2544020" y="315964"/>
                    <a:pt x="2431795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634995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192218" y="4590895"/>
            <a:ext cx="3541394" cy="4667405"/>
          </a:xfrm>
          <a:custGeom>
            <a:avLst/>
            <a:gdLst/>
            <a:ahLst/>
            <a:cxnLst/>
            <a:rect r="r" b="b" t="t" l="l"/>
            <a:pathLst>
              <a:path h="4667405" w="3541394">
                <a:moveTo>
                  <a:pt x="0" y="0"/>
                </a:moveTo>
                <a:lnTo>
                  <a:pt x="3541394" y="0"/>
                </a:lnTo>
                <a:lnTo>
                  <a:pt x="3541394" y="4667405"/>
                </a:lnTo>
                <a:lnTo>
                  <a:pt x="0" y="46674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72654" y="1515489"/>
            <a:ext cx="3734285" cy="72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10"/>
              </a:lnSpc>
              <a:spcBef>
                <a:spcPct val="0"/>
              </a:spcBef>
            </a:pPr>
            <a:r>
              <a:rPr lang="en-US" b="true" sz="5900" i="true" spc="-295">
                <a:solidFill>
                  <a:srgbClr val="FFFFFF"/>
                </a:solidFill>
                <a:latin typeface="TT Ramillas Heavy Italics"/>
                <a:ea typeface="TT Ramillas Heavy Italics"/>
                <a:cs typeface="TT Ramillas Heavy Italics"/>
                <a:sym typeface="TT Ramillas Heavy Italics"/>
              </a:rPr>
              <a:t>Motivación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44816" y="3237866"/>
            <a:ext cx="9385470" cy="40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Necesidad </a:t>
            </a: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real validada con psicólogos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44816" y="5008113"/>
            <a:ext cx="9385470" cy="40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 El proyecto surge de expe</a:t>
            </a: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riencias concretas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79593" cy="10287000"/>
            <a:chOff x="0" y="0"/>
            <a:chExt cx="133783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783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37835">
                  <a:moveTo>
                    <a:pt x="0" y="0"/>
                  </a:moveTo>
                  <a:lnTo>
                    <a:pt x="1337835" y="0"/>
                  </a:lnTo>
                  <a:lnTo>
                    <a:pt x="13378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783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2539796" y="-524789"/>
            <a:ext cx="0" cy="1475683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6553444" y="5044410"/>
            <a:ext cx="10004748" cy="1199677"/>
            <a:chOff x="0" y="0"/>
            <a:chExt cx="2634995" cy="3159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4995" cy="315964"/>
            </a:xfrm>
            <a:custGeom>
              <a:avLst/>
              <a:gdLst/>
              <a:ahLst/>
              <a:cxnLst/>
              <a:rect r="r" b="b" t="t" l="l"/>
              <a:pathLst>
                <a:path h="315964" w="2634995">
                  <a:moveTo>
                    <a:pt x="2431795" y="0"/>
                  </a:moveTo>
                  <a:cubicBezTo>
                    <a:pt x="2544020" y="0"/>
                    <a:pt x="2634995" y="70731"/>
                    <a:pt x="2634995" y="157982"/>
                  </a:cubicBezTo>
                  <a:cubicBezTo>
                    <a:pt x="2634995" y="245233"/>
                    <a:pt x="2544020" y="315964"/>
                    <a:pt x="2431795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634995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41676" y="6601061"/>
            <a:ext cx="10004748" cy="1199677"/>
            <a:chOff x="0" y="0"/>
            <a:chExt cx="2634995" cy="3159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34995" cy="315964"/>
            </a:xfrm>
            <a:custGeom>
              <a:avLst/>
              <a:gdLst/>
              <a:ahLst/>
              <a:cxnLst/>
              <a:rect r="r" b="b" t="t" l="l"/>
              <a:pathLst>
                <a:path h="315964" w="2634995">
                  <a:moveTo>
                    <a:pt x="2431795" y="0"/>
                  </a:moveTo>
                  <a:cubicBezTo>
                    <a:pt x="2544020" y="0"/>
                    <a:pt x="2634995" y="70731"/>
                    <a:pt x="2634995" y="157982"/>
                  </a:cubicBezTo>
                  <a:cubicBezTo>
                    <a:pt x="2634995" y="245233"/>
                    <a:pt x="2544020" y="315964"/>
                    <a:pt x="2431795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34995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641676" y="8153164"/>
            <a:ext cx="10004748" cy="1199677"/>
            <a:chOff x="0" y="0"/>
            <a:chExt cx="2634995" cy="3159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34995" cy="315964"/>
            </a:xfrm>
            <a:custGeom>
              <a:avLst/>
              <a:gdLst/>
              <a:ahLst/>
              <a:cxnLst/>
              <a:rect r="r" b="b" t="t" l="l"/>
              <a:pathLst>
                <a:path h="315964" w="2634995">
                  <a:moveTo>
                    <a:pt x="2431795" y="0"/>
                  </a:moveTo>
                  <a:cubicBezTo>
                    <a:pt x="2544020" y="0"/>
                    <a:pt x="2634995" y="70731"/>
                    <a:pt x="2634995" y="157982"/>
                  </a:cubicBezTo>
                  <a:cubicBezTo>
                    <a:pt x="2634995" y="245233"/>
                    <a:pt x="2544020" y="315964"/>
                    <a:pt x="2431795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34995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2539796" y="3923233"/>
            <a:ext cx="0" cy="6604533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581374" y="5644248"/>
            <a:ext cx="1916845" cy="2758051"/>
          </a:xfrm>
          <a:custGeom>
            <a:avLst/>
            <a:gdLst/>
            <a:ahLst/>
            <a:cxnLst/>
            <a:rect r="r" b="b" t="t" l="l"/>
            <a:pathLst>
              <a:path h="2758051" w="1916845">
                <a:moveTo>
                  <a:pt x="0" y="0"/>
                </a:moveTo>
                <a:lnTo>
                  <a:pt x="1916845" y="0"/>
                </a:lnTo>
                <a:lnTo>
                  <a:pt x="1916845" y="2758051"/>
                </a:lnTo>
                <a:lnTo>
                  <a:pt x="0" y="2758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15831" y="1873781"/>
            <a:ext cx="3247932" cy="128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38"/>
              </a:lnSpc>
              <a:spcBef>
                <a:spcPct val="0"/>
              </a:spcBef>
            </a:pPr>
            <a:r>
              <a:rPr lang="en-US" b="true" sz="5487" i="true" spc="-274">
                <a:solidFill>
                  <a:srgbClr val="000000"/>
                </a:solidFill>
                <a:latin typeface="TT Ramillas Heavy Italics"/>
                <a:ea typeface="TT Ramillas Heavy Italics"/>
                <a:cs typeface="TT Ramillas Heavy Italics"/>
                <a:sym typeface="TT Ramillas Heavy Italics"/>
              </a:rPr>
              <a:t>Solución</a:t>
            </a:r>
          </a:p>
          <a:p>
            <a:pPr algn="ctr" marL="0" indent="0" lvl="0">
              <a:lnSpc>
                <a:spcPts val="4938"/>
              </a:lnSpc>
              <a:spcBef>
                <a:spcPct val="0"/>
              </a:spcBef>
            </a:pPr>
            <a:r>
              <a:rPr lang="en-US" b="true" sz="5487" i="true" spc="-274" strike="noStrike">
                <a:solidFill>
                  <a:srgbClr val="000000"/>
                </a:solidFill>
                <a:latin typeface="TT Ramillas Heavy Italics"/>
                <a:ea typeface="TT Ramillas Heavy Italics"/>
                <a:cs typeface="TT Ramillas Heavy Italics"/>
                <a:sym typeface="TT Ramillas Heavy Italics"/>
              </a:rPr>
              <a:t>propuesta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53444" y="3286097"/>
            <a:ext cx="10092981" cy="1034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b="true" sz="4399" spc="-219">
                <a:solidFill>
                  <a:srgbClr val="FFFFFF"/>
                </a:solidFill>
                <a:latin typeface="TT Ramillas Heavy"/>
                <a:ea typeface="TT Ramillas Heavy"/>
                <a:cs typeface="TT Ramillas Heavy"/>
                <a:sym typeface="TT Ramillas Heavy"/>
              </a:rPr>
              <a:t>Aplicación con IA para registrar, resumir y visualizar sesiones e historias clínicas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53444" y="1429328"/>
            <a:ext cx="10092981" cy="100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9"/>
              </a:lnSpc>
            </a:pPr>
            <a:r>
              <a:rPr lang="en-US" b="true" sz="8199" spc="-409">
                <a:solidFill>
                  <a:srgbClr val="000000"/>
                </a:solidFill>
                <a:latin typeface="TT Ramillas Heavy"/>
                <a:ea typeface="TT Ramillas Heavy"/>
                <a:cs typeface="TT Ramillas Heavy"/>
                <a:sym typeface="TT Ramillas Heavy"/>
              </a:rPr>
              <a:t>aPSIstance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07199" y="5305159"/>
            <a:ext cx="9385470" cy="77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Gestiona de forma estructurada la </a:t>
            </a: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información de cada paciente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51315" y="7047548"/>
            <a:ext cx="9385470" cy="40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Transcripción de audio de resumen de sesión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51315" y="8605601"/>
            <a:ext cx="9385470" cy="40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Genera resúmenes coherentes para una v</a:t>
            </a: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isión rápida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79593" cy="10287000"/>
            <a:chOff x="0" y="0"/>
            <a:chExt cx="133783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783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37835">
                  <a:moveTo>
                    <a:pt x="0" y="0"/>
                  </a:moveTo>
                  <a:lnTo>
                    <a:pt x="1337835" y="0"/>
                  </a:lnTo>
                  <a:lnTo>
                    <a:pt x="13378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2E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783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2539796" y="-524789"/>
            <a:ext cx="0" cy="1475683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2539796" y="2625926"/>
            <a:ext cx="0" cy="790184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927277" y="1700206"/>
            <a:ext cx="10112648" cy="1199677"/>
            <a:chOff x="0" y="0"/>
            <a:chExt cx="2663413" cy="3159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63413" cy="315964"/>
            </a:xfrm>
            <a:custGeom>
              <a:avLst/>
              <a:gdLst/>
              <a:ahLst/>
              <a:cxnLst/>
              <a:rect r="r" b="b" t="t" l="l"/>
              <a:pathLst>
                <a:path h="315964" w="2663413">
                  <a:moveTo>
                    <a:pt x="2460213" y="0"/>
                  </a:moveTo>
                  <a:cubicBezTo>
                    <a:pt x="2572438" y="0"/>
                    <a:pt x="2663413" y="70731"/>
                    <a:pt x="2663413" y="157982"/>
                  </a:cubicBezTo>
                  <a:cubicBezTo>
                    <a:pt x="2663413" y="245233"/>
                    <a:pt x="2572438" y="315964"/>
                    <a:pt x="2460213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63413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27277" y="3343984"/>
            <a:ext cx="10004748" cy="1199677"/>
            <a:chOff x="0" y="0"/>
            <a:chExt cx="2634995" cy="3159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34995" cy="315964"/>
            </a:xfrm>
            <a:custGeom>
              <a:avLst/>
              <a:gdLst/>
              <a:ahLst/>
              <a:cxnLst/>
              <a:rect r="r" b="b" t="t" l="l"/>
              <a:pathLst>
                <a:path h="315964" w="2634995">
                  <a:moveTo>
                    <a:pt x="2431795" y="0"/>
                  </a:moveTo>
                  <a:cubicBezTo>
                    <a:pt x="2544020" y="0"/>
                    <a:pt x="2634995" y="70731"/>
                    <a:pt x="2634995" y="157982"/>
                  </a:cubicBezTo>
                  <a:cubicBezTo>
                    <a:pt x="2634995" y="245233"/>
                    <a:pt x="2544020" y="315964"/>
                    <a:pt x="2431795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634995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27277" y="4991336"/>
            <a:ext cx="10004748" cy="1199677"/>
            <a:chOff x="0" y="0"/>
            <a:chExt cx="2634995" cy="3159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34995" cy="315964"/>
            </a:xfrm>
            <a:custGeom>
              <a:avLst/>
              <a:gdLst/>
              <a:ahLst/>
              <a:cxnLst/>
              <a:rect r="r" b="b" t="t" l="l"/>
              <a:pathLst>
                <a:path h="315964" w="2634995">
                  <a:moveTo>
                    <a:pt x="2431795" y="0"/>
                  </a:moveTo>
                  <a:cubicBezTo>
                    <a:pt x="2544020" y="0"/>
                    <a:pt x="2634995" y="70731"/>
                    <a:pt x="2634995" y="157982"/>
                  </a:cubicBezTo>
                  <a:cubicBezTo>
                    <a:pt x="2634995" y="245233"/>
                    <a:pt x="2544020" y="315964"/>
                    <a:pt x="2431795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634995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035177" y="6638689"/>
            <a:ext cx="10004748" cy="1199677"/>
            <a:chOff x="0" y="0"/>
            <a:chExt cx="2634995" cy="3159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34995" cy="315964"/>
            </a:xfrm>
            <a:custGeom>
              <a:avLst/>
              <a:gdLst/>
              <a:ahLst/>
              <a:cxnLst/>
              <a:rect r="r" b="b" t="t" l="l"/>
              <a:pathLst>
                <a:path h="315964" w="2634995">
                  <a:moveTo>
                    <a:pt x="2431795" y="0"/>
                  </a:moveTo>
                  <a:cubicBezTo>
                    <a:pt x="2544020" y="0"/>
                    <a:pt x="2634995" y="70731"/>
                    <a:pt x="2634995" y="157982"/>
                  </a:cubicBezTo>
                  <a:cubicBezTo>
                    <a:pt x="2634995" y="245233"/>
                    <a:pt x="2544020" y="315964"/>
                    <a:pt x="2431795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634995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87929" y="4556494"/>
            <a:ext cx="3763172" cy="4114800"/>
          </a:xfrm>
          <a:custGeom>
            <a:avLst/>
            <a:gdLst/>
            <a:ahLst/>
            <a:cxnLst/>
            <a:rect r="r" b="b" t="t" l="l"/>
            <a:pathLst>
              <a:path h="4114800" w="3763172">
                <a:moveTo>
                  <a:pt x="0" y="0"/>
                </a:moveTo>
                <a:lnTo>
                  <a:pt x="3763172" y="0"/>
                </a:lnTo>
                <a:lnTo>
                  <a:pt x="37631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2654" y="1515489"/>
            <a:ext cx="3734285" cy="67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50"/>
              </a:lnSpc>
              <a:spcBef>
                <a:spcPct val="0"/>
              </a:spcBef>
            </a:pPr>
            <a:r>
              <a:rPr lang="en-US" b="true" sz="5500" i="true" spc="-275">
                <a:solidFill>
                  <a:srgbClr val="FFFFFF"/>
                </a:solidFill>
                <a:latin typeface="TT Ramillas Heavy Italics"/>
                <a:ea typeface="TT Ramillas Heavy Italics"/>
                <a:cs typeface="TT Ramillas Heavy Italics"/>
                <a:sym typeface="TT Ramillas Heavy Italics"/>
              </a:rPr>
              <a:t>Tecnologías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90866" y="2146693"/>
            <a:ext cx="9385470" cy="40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Frontend: </a:t>
            </a:r>
            <a:r>
              <a:rPr lang="en-US" sz="3299" spc="-16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Re</a:t>
            </a:r>
            <a:r>
              <a:rPr lang="en-US" sz="3299" spc="-16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act | TypeScript | Tailwind CSS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90866" y="3790471"/>
            <a:ext cx="9385470" cy="40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Backend: </a:t>
            </a:r>
            <a:r>
              <a:rPr lang="en-US" sz="3299" spc="-16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Python (F</a:t>
            </a:r>
            <a:r>
              <a:rPr lang="en-US" sz="3299" spc="-16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astAPI) | SQLAlchemy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35177" y="5429486"/>
            <a:ext cx="9385470" cy="40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Base de D</a:t>
            </a: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atos: </a:t>
            </a:r>
            <a:r>
              <a:rPr lang="en-US" sz="3299" spc="-16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PostgreSQL (NeonDB)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44816" y="7086364"/>
            <a:ext cx="9385470" cy="40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Servicios de IA: </a:t>
            </a:r>
            <a:r>
              <a:rPr lang="en-US" sz="3299" spc="-16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Whi</a:t>
            </a:r>
            <a:r>
              <a:rPr lang="en-US" sz="3299" spc="-16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sper &amp; GPT-4 | Hugging Face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79593" cy="10287000"/>
            <a:chOff x="0" y="0"/>
            <a:chExt cx="133783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783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37835">
                  <a:moveTo>
                    <a:pt x="0" y="0"/>
                  </a:moveTo>
                  <a:lnTo>
                    <a:pt x="1337835" y="0"/>
                  </a:lnTo>
                  <a:lnTo>
                    <a:pt x="13378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2E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783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2539796" y="-524789"/>
            <a:ext cx="0" cy="1475683"/>
          </a:xfrm>
          <a:prstGeom prst="line">
            <a:avLst/>
          </a:prstGeom>
          <a:ln cap="flat" w="47625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2539796" y="2593544"/>
            <a:ext cx="0" cy="7934222"/>
          </a:xfrm>
          <a:prstGeom prst="line">
            <a:avLst/>
          </a:prstGeom>
          <a:ln cap="flat" w="47625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677710" y="950894"/>
            <a:ext cx="11978408" cy="7998527"/>
          </a:xfrm>
          <a:custGeom>
            <a:avLst/>
            <a:gdLst/>
            <a:ahLst/>
            <a:cxnLst/>
            <a:rect r="r" b="b" t="t" l="l"/>
            <a:pathLst>
              <a:path h="7998527" w="11978408">
                <a:moveTo>
                  <a:pt x="0" y="0"/>
                </a:moveTo>
                <a:lnTo>
                  <a:pt x="11978408" y="0"/>
                </a:lnTo>
                <a:lnTo>
                  <a:pt x="11978408" y="7998528"/>
                </a:lnTo>
                <a:lnTo>
                  <a:pt x="0" y="7998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11655" y="1364548"/>
            <a:ext cx="2656284" cy="48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3900" i="true" spc="-195">
                <a:solidFill>
                  <a:srgbClr val="FFDE59"/>
                </a:solidFill>
                <a:latin typeface="TT Ramillas Heavy Italics"/>
                <a:ea typeface="TT Ramillas Heavy Italics"/>
                <a:cs typeface="TT Ramillas Heavy Italics"/>
                <a:sym typeface="TT Ramillas Heavy Italics"/>
              </a:rPr>
              <a:t>DEMO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79593" cy="10287000"/>
            <a:chOff x="0" y="0"/>
            <a:chExt cx="133783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783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37835">
                  <a:moveTo>
                    <a:pt x="0" y="0"/>
                  </a:moveTo>
                  <a:lnTo>
                    <a:pt x="1337835" y="0"/>
                  </a:lnTo>
                  <a:lnTo>
                    <a:pt x="13378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783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2539796" y="-524789"/>
            <a:ext cx="0" cy="1475683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2539796" y="3923233"/>
            <a:ext cx="0" cy="6604533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641676" y="2723556"/>
            <a:ext cx="10004748" cy="1199677"/>
            <a:chOff x="0" y="0"/>
            <a:chExt cx="2634995" cy="3159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34995" cy="315964"/>
            </a:xfrm>
            <a:custGeom>
              <a:avLst/>
              <a:gdLst/>
              <a:ahLst/>
              <a:cxnLst/>
              <a:rect r="r" b="b" t="t" l="l"/>
              <a:pathLst>
                <a:path h="315964" w="2634995">
                  <a:moveTo>
                    <a:pt x="2431795" y="0"/>
                  </a:moveTo>
                  <a:cubicBezTo>
                    <a:pt x="2544020" y="0"/>
                    <a:pt x="2634995" y="70731"/>
                    <a:pt x="2634995" y="157982"/>
                  </a:cubicBezTo>
                  <a:cubicBezTo>
                    <a:pt x="2634995" y="245233"/>
                    <a:pt x="2544020" y="315964"/>
                    <a:pt x="2431795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34995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41676" y="4543661"/>
            <a:ext cx="10004748" cy="1199677"/>
            <a:chOff x="0" y="0"/>
            <a:chExt cx="2634995" cy="3159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34995" cy="315964"/>
            </a:xfrm>
            <a:custGeom>
              <a:avLst/>
              <a:gdLst/>
              <a:ahLst/>
              <a:cxnLst/>
              <a:rect r="r" b="b" t="t" l="l"/>
              <a:pathLst>
                <a:path h="315964" w="2634995">
                  <a:moveTo>
                    <a:pt x="2431795" y="0"/>
                  </a:moveTo>
                  <a:cubicBezTo>
                    <a:pt x="2544020" y="0"/>
                    <a:pt x="2634995" y="70731"/>
                    <a:pt x="2634995" y="157982"/>
                  </a:cubicBezTo>
                  <a:cubicBezTo>
                    <a:pt x="2634995" y="245233"/>
                    <a:pt x="2544020" y="315964"/>
                    <a:pt x="2431795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634995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41676" y="6527006"/>
            <a:ext cx="10004748" cy="1199677"/>
            <a:chOff x="0" y="0"/>
            <a:chExt cx="2634995" cy="3159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34995" cy="315964"/>
            </a:xfrm>
            <a:custGeom>
              <a:avLst/>
              <a:gdLst/>
              <a:ahLst/>
              <a:cxnLst/>
              <a:rect r="r" b="b" t="t" l="l"/>
              <a:pathLst>
                <a:path h="315964" w="2634995">
                  <a:moveTo>
                    <a:pt x="2431795" y="0"/>
                  </a:moveTo>
                  <a:cubicBezTo>
                    <a:pt x="2544020" y="0"/>
                    <a:pt x="2634995" y="70731"/>
                    <a:pt x="2634995" y="157982"/>
                  </a:cubicBezTo>
                  <a:cubicBezTo>
                    <a:pt x="2634995" y="245233"/>
                    <a:pt x="2544020" y="315964"/>
                    <a:pt x="2431795" y="315964"/>
                  </a:cubicBezTo>
                  <a:lnTo>
                    <a:pt x="203200" y="315964"/>
                  </a:lnTo>
                  <a:cubicBezTo>
                    <a:pt x="90976" y="315964"/>
                    <a:pt x="0" y="245233"/>
                    <a:pt x="0" y="157982"/>
                  </a:cubicBezTo>
                  <a:cubicBezTo>
                    <a:pt x="0" y="70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634995" cy="35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72253" y="5177105"/>
            <a:ext cx="2135088" cy="1513971"/>
          </a:xfrm>
          <a:custGeom>
            <a:avLst/>
            <a:gdLst/>
            <a:ahLst/>
            <a:cxnLst/>
            <a:rect r="r" b="b" t="t" l="l"/>
            <a:pathLst>
              <a:path h="1513971" w="2135088">
                <a:moveTo>
                  <a:pt x="0" y="0"/>
                </a:moveTo>
                <a:lnTo>
                  <a:pt x="2135087" y="0"/>
                </a:lnTo>
                <a:lnTo>
                  <a:pt x="2135087" y="1513971"/>
                </a:lnTo>
                <a:lnTo>
                  <a:pt x="0" y="15139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15831" y="1873781"/>
            <a:ext cx="3247932" cy="128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38"/>
              </a:lnSpc>
              <a:spcBef>
                <a:spcPct val="0"/>
              </a:spcBef>
            </a:pPr>
            <a:r>
              <a:rPr lang="en-US" b="true" sz="5487" i="true" spc="-274">
                <a:solidFill>
                  <a:srgbClr val="000000"/>
                </a:solidFill>
                <a:latin typeface="TT Ramillas Bold Italics"/>
                <a:ea typeface="TT Ramillas Bold Italics"/>
                <a:cs typeface="TT Ramillas Bold Italics"/>
                <a:sym typeface="TT Ramillas Bold Italics"/>
              </a:rPr>
              <a:t>Próximos pasos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51315" y="2984305"/>
            <a:ext cx="9385470" cy="77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 Desarrollar resúmenes automáticos de h</a:t>
            </a: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istoria clínica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51315" y="4804411"/>
            <a:ext cx="9385470" cy="77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 Integrar análisis de emociones y otros datos relevantes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51315" y="6786326"/>
            <a:ext cx="9385470" cy="77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Optimizar la interfaz con base en el feedback de lo</a:t>
            </a:r>
            <a:r>
              <a:rPr lang="en-US" b="true" sz="3299" spc="-16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s usuarios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79593" cy="10287000"/>
            <a:chOff x="0" y="0"/>
            <a:chExt cx="133783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783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37835">
                  <a:moveTo>
                    <a:pt x="0" y="0"/>
                  </a:moveTo>
                  <a:lnTo>
                    <a:pt x="1337835" y="0"/>
                  </a:lnTo>
                  <a:lnTo>
                    <a:pt x="13378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2E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783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2539796" y="-524789"/>
            <a:ext cx="0" cy="1475683"/>
          </a:xfrm>
          <a:prstGeom prst="line">
            <a:avLst/>
          </a:prstGeom>
          <a:ln cap="flat" w="47625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2539796" y="2837383"/>
            <a:ext cx="0" cy="7690383"/>
          </a:xfrm>
          <a:prstGeom prst="line">
            <a:avLst/>
          </a:prstGeom>
          <a:ln cap="flat" w="47625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11655" y="1383598"/>
            <a:ext cx="2656284" cy="51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80"/>
              </a:lnSpc>
              <a:spcBef>
                <a:spcPct val="0"/>
              </a:spcBef>
            </a:pPr>
            <a:r>
              <a:rPr lang="en-US" b="true" sz="4200" i="true" spc="-210">
                <a:solidFill>
                  <a:srgbClr val="FFDE59"/>
                </a:solidFill>
                <a:latin typeface="TT Ramillas Heavy Italics"/>
                <a:ea typeface="TT Ramillas Heavy Italics"/>
                <a:cs typeface="TT Ramillas Heavy Italics"/>
                <a:sym typeface="TT Ramillas Heavy Italics"/>
              </a:rPr>
              <a:t>aPSIstance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37306" y="3955714"/>
            <a:ext cx="10092981" cy="194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9"/>
              </a:lnSpc>
            </a:pPr>
            <a:r>
              <a:rPr lang="en-US" b="true" sz="8199" spc="-409">
                <a:solidFill>
                  <a:srgbClr val="000000"/>
                </a:solidFill>
                <a:latin typeface="TT Ramillas Heavy"/>
                <a:ea typeface="TT Ramillas Heavy"/>
                <a:cs typeface="TT Ramillas Heavy"/>
                <a:sym typeface="TT Ramillas Heavy"/>
              </a:rPr>
              <a:t>MUCHAS</a:t>
            </a:r>
          </a:p>
          <a:p>
            <a:pPr algn="ctr">
              <a:lnSpc>
                <a:spcPts val="7379"/>
              </a:lnSpc>
            </a:pPr>
            <a:r>
              <a:rPr lang="en-US" b="true" sz="8199" spc="-409">
                <a:solidFill>
                  <a:srgbClr val="000000"/>
                </a:solidFill>
                <a:latin typeface="TT Ramillas Heavy"/>
                <a:ea typeface="TT Ramillas Heavy"/>
                <a:cs typeface="TT Ramillas Heavy"/>
                <a:sym typeface="TT Ramillas Heavy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DAGriyJLHJg</dc:identifier>
  <dcterms:modified xsi:type="dcterms:W3CDTF">2011-08-01T06:04:30Z</dcterms:modified>
  <cp:revision>1</cp:revision>
  <dc:title>Presentación MVP</dc:title>
</cp:coreProperties>
</file>